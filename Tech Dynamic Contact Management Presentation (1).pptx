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142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57920" y="2385119"/>
            <a:ext cx="9276159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0F172A"/>
                </a:solidFill>
                <a:latin typeface="Times New Roman"/>
              </a:rPr>
              <a:t>Contact Management </a:t>
            </a:r>
            <a:r>
              <a:rPr sz="4350" b="1" i="0" u="none">
                <a:solidFill>
                  <a:srgbClr val="2563EB"/>
                </a:solidFill>
                <a:latin typeface="Times New Roman"/>
              </a:rP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685" y="3210817"/>
            <a:ext cx="7984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475569"/>
                </a:solidFill>
                <a:latin typeface="Times New Roman"/>
              </a:rPr>
              <a:t>An Engineering Analysis on Optimizing Dynamic Insertions, Deletions, and Search Operations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60C6D-B3B1-2919-F057-1081E2E6490C}"/>
              </a:ext>
            </a:extLst>
          </p:cNvPr>
          <p:cNvSpPr txBox="1"/>
          <p:nvPr/>
        </p:nvSpPr>
        <p:spPr>
          <a:xfrm>
            <a:off x="9322653" y="5113981"/>
            <a:ext cx="2386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Pranav A S(192573001)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02542" y="3119437"/>
            <a:ext cx="5386767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350" b="1" i="0" u="none">
                <a:solidFill>
                  <a:srgbClr val="0F172A"/>
                </a:solidFill>
                <a:latin typeface="Times New Roman"/>
              </a:rP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7017" y="3900487"/>
            <a:ext cx="561781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2563EB"/>
                </a:solidFill>
                <a:latin typeface="Times New Roman"/>
              </a:rPr>
              <a:t>Architectural Demand for High-Frequency Dynamic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38425"/>
            <a:ext cx="5324475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38425"/>
            <a:ext cx="5324475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981325"/>
            <a:ext cx="487060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D4ED8"/>
                </a:solidFill>
                <a:latin typeface="Times New Roman"/>
              </a:rPr>
              <a:t>Dynamic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81375"/>
            <a:ext cx="4638675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Contact records in modern applications are continuously added, updated, and deleted based on user activity. Static pre-allocations lead to severe memory waste or buffer overflow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981325"/>
            <a:ext cx="487060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D4ED8"/>
                </a:solidFill>
                <a:latin typeface="Times New Roman"/>
              </a:rPr>
              <a:t>Performance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381375"/>
            <a:ext cx="4638675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The system must ensure instantaneous search lookup while performing record updates without noticeable execution latency or $O(N)$ memory element shifting overhead.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System Requirements &amp;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167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7725" y="1971675"/>
            <a:ext cx="50577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Arrays store elements in contiguous RAM locations, requiring rigid memory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2667000"/>
            <a:ext cx="50577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Inserting or deleting a record requires shifting up to $N$ subsequent elements.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362325"/>
            <a:ext cx="50577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Dynamic resizing forces full array copies into new memory allocations.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4057650"/>
            <a:ext cx="505777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Worst-case time complexity degrades significantly to $O(N)$.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1200"/>
            <a:ext cx="53054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1914525"/>
            <a:ext cx="9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609850"/>
            <a:ext cx="9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305175"/>
            <a:ext cx="9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000500"/>
            <a:ext cx="95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2563EB"/>
                </a:solidFill>
                <a:latin typeface="Times New Roman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Dynamic Array Limitations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43250"/>
            <a:ext cx="1407616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554069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Pointer-Based Deletion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285875"/>
            <a:ext cx="554069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D4ED8"/>
                </a:solidFill>
                <a:latin typeface="Times New Roman"/>
              </a:rPr>
              <a:t>Doubly Linked List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685925"/>
            <a:ext cx="52768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A Doubly Linked List links nodes via forward and backward pointers, allowing direct element unhooking.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343150"/>
            <a:ext cx="52768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When given a node reference, deletion executes in $O(1)$ constant time without shifting memory.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286125"/>
            <a:ext cx="100756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47950"/>
            <a:ext cx="5324475" cy="2266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3038475"/>
            <a:ext cx="45434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0" i="0" u="none">
                <a:solidFill>
                  <a:srgbClr val="2563EB"/>
                </a:solidFill>
                <a:latin typeface="Times New Roman ExtraBold"/>
              </a:rPr>
              <a:t>O(1)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4276725"/>
            <a:ext cx="45434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Times New Roman"/>
              </a:rPr>
              <a:t>Constant Time Deletion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788443"/>
            <a:ext cx="55906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D4ED8"/>
                </a:solidFill>
                <a:latin typeface="Times New Roman"/>
              </a:rPr>
              <a:t>Hash Map + Doubly Linked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88493"/>
            <a:ext cx="5324475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Combining a Hash Map (for index lookup) with a Doubly Linked List (for record storage) achieves true $O(1)$ constant time across both search and deletion phases.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117181"/>
            <a:ext cx="53244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This hybrid architecture represents the industry standard for production contact management engines.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Operational Efficiency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312193"/>
            <a:ext cx="11029950" cy="29384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312193"/>
          <a:ext cx="11020424" cy="2938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5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5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692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D4ED8"/>
                          </a:solidFill>
                          <a:latin typeface="Times New Roman"/>
                        </a:rPr>
                        <a:t>Data 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D4ED8"/>
                          </a:solidFill>
                          <a:latin typeface="Times New Roman"/>
                        </a:rPr>
                        <a:t>Insertion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D4ED8"/>
                          </a:solidFill>
                          <a:latin typeface="Times New Roman"/>
                        </a:rPr>
                        <a:t>Deletion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D4ED8"/>
                          </a:solidFill>
                          <a:latin typeface="Times New Roman"/>
                        </a:rPr>
                        <a:t>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D4ED8"/>
                          </a:solidFill>
                          <a:latin typeface="Times New Roman"/>
                        </a:rPr>
                        <a:t>Memory Allocation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692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Array / Vector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O(1) / O(log 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Contiguous Block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692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Singly Linked List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Dynamic Nodes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692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Doubly Linked List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O(1)*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Dynamic Nodes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694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Hash Table + Doubly 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O(1) Avg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334155"/>
                          </a:solidFill>
                          <a:latin typeface="Times New Roman"/>
                        </a:rPr>
                        <a:t>Hybrid Allocation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893218"/>
            <a:ext cx="314548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31269" y="2893218"/>
            <a:ext cx="15506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81910" y="2893218"/>
            <a:ext cx="146402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45932" y="2893218"/>
            <a:ext cx="217512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21055" y="2893218"/>
            <a:ext cx="268515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787" y="3479006"/>
            <a:ext cx="314548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31269" y="3479006"/>
            <a:ext cx="15506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81910" y="3479006"/>
            <a:ext cx="146402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45932" y="3479006"/>
            <a:ext cx="217512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21055" y="3479006"/>
            <a:ext cx="268515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787" y="4064793"/>
            <a:ext cx="314548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31269" y="4064793"/>
            <a:ext cx="15506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81910" y="4064793"/>
            <a:ext cx="146402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45932" y="4064793"/>
            <a:ext cx="217512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21055" y="4064793"/>
            <a:ext cx="268515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787" y="4650581"/>
            <a:ext cx="314548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731269" y="4650581"/>
            <a:ext cx="15506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81910" y="4650581"/>
            <a:ext cx="146402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45932" y="4650581"/>
            <a:ext cx="217512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21055" y="4650581"/>
            <a:ext cx="268515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Data Structure Complexity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90625"/>
            <a:ext cx="11029950" cy="518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498" y="4764881"/>
            <a:ext cx="1098485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1" u="none">
                <a:solidFill>
                  <a:srgbClr val="334155"/>
                </a:solidFill>
                <a:latin typeface="Times New Roman"/>
              </a:rPr>
              <a:t>Benchmarks highlight the dramatic latency drop when unhooking pointers via Hash Table + Doubly Linked List compared to contiguous array shifting.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Relative Deletion Latency (Lower is Better)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90625"/>
            <a:ext cx="11029950" cy="518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909" y="5231606"/>
            <a:ext cx="954018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1" u="none">
                <a:solidFill>
                  <a:srgbClr val="334155"/>
                </a:solidFill>
                <a:latin typeface="Times New Roman"/>
              </a:rPr>
              <a:t>The minor memory overhead of storing pointers is vastly outweighed by the runtime benefits gained during high-frequency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Memory Allocation Footprint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19550"/>
            <a:ext cx="2536775" cy="104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495550"/>
            <a:ext cx="2536775" cy="1047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019550"/>
            <a:ext cx="2536775" cy="1047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495550"/>
            <a:ext cx="2536775" cy="10477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762375"/>
            <a:ext cx="110299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7626" y="4181475"/>
            <a:ext cx="232357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 i="0" u="none">
                <a:solidFill>
                  <a:srgbClr val="1D4ED8"/>
                </a:solidFill>
                <a:latin typeface="Times New Roman"/>
              </a:rPr>
              <a:t>1.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476750"/>
            <a:ext cx="2212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Times New Roman"/>
              </a:rPr>
              <a:t>Hash key lookup finds contact node pointer in O(1)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635" y="2657475"/>
            <a:ext cx="232357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 i="0" u="none">
                <a:solidFill>
                  <a:srgbClr val="1D4ED8"/>
                </a:solidFill>
                <a:latin typeface="Times New Roman"/>
              </a:rPr>
              <a:t>2. Unhook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958" y="2952750"/>
            <a:ext cx="2212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Times New Roman"/>
              </a:rPr>
              <a:t>Re-link previous and next neighbor pointers around node.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644" y="4181475"/>
            <a:ext cx="232357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 i="0" u="none">
                <a:solidFill>
                  <a:srgbClr val="1D4ED8"/>
                </a:solidFill>
                <a:latin typeface="Times New Roman"/>
              </a:rPr>
              <a:t>3. Clear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967" y="4476750"/>
            <a:ext cx="2212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Times New Roman"/>
              </a:rPr>
              <a:t>Remove hash map entry key to prevent dangling references.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652" y="2657475"/>
            <a:ext cx="232357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 i="0" u="none">
                <a:solidFill>
                  <a:srgbClr val="1D4ED8"/>
                </a:solidFill>
                <a:latin typeface="Times New Roman"/>
              </a:rPr>
              <a:t>4. Free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975" y="2952750"/>
            <a:ext cx="22129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Times New Roman"/>
              </a:rPr>
              <a:t>Deallocate heap memory block safely back to 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Record Deletion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44637" y="36766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5646" y="36766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6654" y="36766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37663" y="36766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3059906"/>
            <a:ext cx="909637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Avoid arrays for dynamic datasets where frequent deletions or middle insertions occur.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540918"/>
            <a:ext cx="909637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Combine Hash Tables with Doubly Linked Lists for constant time $O(1)$ updates and searches.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4021931"/>
            <a:ext cx="909637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334155"/>
                </a:solidFill>
                <a:latin typeface="Times New Roman"/>
              </a:rPr>
              <a:t>Utilize Self-Balancing Trees (AVL/Red-Black) if real-time alphabetical sorting is mandatory.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069431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550443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31456"/>
            <a:ext cx="257175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Key Engineering Takeaways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463" y="3805237"/>
            <a:ext cx="3915072" cy="447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2100262"/>
            <a:ext cx="11581447" cy="79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0F172A"/>
                </a:solidFill>
                <a:latin typeface="Times New Roman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033712"/>
            <a:ext cx="110299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>
                <a:solidFill>
                  <a:srgbClr val="2563EB"/>
                </a:solidFill>
                <a:latin typeface="Times New Roman"/>
              </a:rPr>
              <a:t>Thank you for your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538662"/>
            <a:ext cx="110299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Times New Roman"/>
              </a:rPr>
              <a:t>Data Structures &amp; Systems Architecture Presentation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588" y="3919537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75508" y="3014662"/>
            <a:ext cx="6440983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75508" y="3776662"/>
            <a:ext cx="644098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75508" y="3776662"/>
            <a:ext cx="6440983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508" y="315753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70883" y="3164681"/>
            <a:ext cx="5345608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Times New Roman"/>
              </a:rPr>
              <a:t>https://media.geeksforgeeks.org/wp-content/uploads/20251024112600799492/introduction_to_graphs.webp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0883" y="3398043"/>
            <a:ext cx="5345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Times New Roman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Times New Roman"/>
              </a:rPr>
              <a:t>www.geeksforgeeks.org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508" y="392906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0883" y="3936206"/>
            <a:ext cx="5345608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Times New Roman"/>
              </a:rPr>
              <a:t>https://www.kaigengroup.com/software-defined-datacenter/img/sddn12.jpg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0883" y="4169568"/>
            <a:ext cx="5345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Times New Roman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Times New Roman"/>
              </a:rPr>
              <a:t>www.kaigengroup.com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Times New Roman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578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Times New Roman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Admin1</dc:creator>
  <cp:keywords/>
  <dc:description>generated using python-pptx</dc:description>
  <cp:lastModifiedBy>Pranav AS</cp:lastModifiedBy>
  <cp:revision>2</cp:revision>
  <dcterms:created xsi:type="dcterms:W3CDTF">2013-01-27T09:14:16Z</dcterms:created>
  <dcterms:modified xsi:type="dcterms:W3CDTF">2026-07-23T09:14:01Z</dcterms:modified>
  <cp:category/>
</cp:coreProperties>
</file>