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20104100" cy="11309350"/>
  <p:notesSz cx="20104100" cy="11309350"/>
  <p:defaultTextStyle>
    <a:defPPr lvl="0">
      <a:defRPr kern="0"/>
    </a:defPPr>
    <a:lvl1pPr lvl="0">
      <a:defRPr/>
    </a:lvl1pPr>
    <a:lvl2pPr lvl="1">
      <a:defRPr/>
    </a:lvl2pPr>
    <a:lvl3pPr lvl="2">
      <a:defRPr/>
    </a:lvl3pPr>
    <a:lvl4pPr lvl="3">
      <a:defRPr/>
    </a:lvl4pPr>
    <a:lvl5pPr lvl="4">
      <a:defRPr/>
    </a:lvl5pPr>
    <a:lvl6pPr lvl="5">
      <a:defRPr/>
    </a:lvl6pPr>
    <a:lvl7pPr lvl="6">
      <a:defRPr/>
    </a:lvl7pPr>
    <a:lvl8pPr lvl="7">
      <a:defRPr/>
    </a:lvl8pPr>
    <a:lvl9pPr lvl="8">
      <a:defRPr/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768" y="4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nav AS" userId="d2e81181b641e97a" providerId="LiveId" clId="{1D513FDE-2E6D-4CC8-B9F9-30E8265FB632}"/>
    <pc:docChg chg="modSld">
      <pc:chgData name="Pranav AS" userId="d2e81181b641e97a" providerId="LiveId" clId="{1D513FDE-2E6D-4CC8-B9F9-30E8265FB632}" dt="2026-07-28T08:01:02.534" v="14" actId="1076"/>
      <pc:docMkLst>
        <pc:docMk/>
      </pc:docMkLst>
      <pc:sldChg chg="modSp mod">
        <pc:chgData name="Pranav AS" userId="d2e81181b641e97a" providerId="LiveId" clId="{1D513FDE-2E6D-4CC8-B9F9-30E8265FB632}" dt="2026-07-28T08:00:08.953" v="1" actId="1076"/>
        <pc:sldMkLst>
          <pc:docMk/>
          <pc:sldMk cId="0" sldId="259"/>
        </pc:sldMkLst>
        <pc:spChg chg="mod">
          <ac:chgData name="Pranav AS" userId="d2e81181b641e97a" providerId="LiveId" clId="{1D513FDE-2E6D-4CC8-B9F9-30E8265FB632}" dt="2026-07-28T08:00:08.953" v="1" actId="1076"/>
          <ac:spMkLst>
            <pc:docMk/>
            <pc:sldMk cId="0" sldId="259"/>
            <ac:spMk id="24" creationId="{00000000-0000-0000-0000-000000000000}"/>
          </ac:spMkLst>
        </pc:spChg>
      </pc:sldChg>
      <pc:sldChg chg="modSp mod">
        <pc:chgData name="Pranav AS" userId="d2e81181b641e97a" providerId="LiveId" clId="{1D513FDE-2E6D-4CC8-B9F9-30E8265FB632}" dt="2026-07-28T08:00:15.632" v="3" actId="1076"/>
        <pc:sldMkLst>
          <pc:docMk/>
          <pc:sldMk cId="0" sldId="261"/>
        </pc:sldMkLst>
        <pc:spChg chg="mod">
          <ac:chgData name="Pranav AS" userId="d2e81181b641e97a" providerId="LiveId" clId="{1D513FDE-2E6D-4CC8-B9F9-30E8265FB632}" dt="2026-07-28T08:00:15.632" v="3" actId="1076"/>
          <ac:spMkLst>
            <pc:docMk/>
            <pc:sldMk cId="0" sldId="261"/>
            <ac:spMk id="24" creationId="{00000000-0000-0000-0000-000000000000}"/>
          </ac:spMkLst>
        </pc:spChg>
      </pc:sldChg>
      <pc:sldChg chg="modSp mod">
        <pc:chgData name="Pranav AS" userId="d2e81181b641e97a" providerId="LiveId" clId="{1D513FDE-2E6D-4CC8-B9F9-30E8265FB632}" dt="2026-07-28T08:00:24.625" v="5" actId="1076"/>
        <pc:sldMkLst>
          <pc:docMk/>
          <pc:sldMk cId="0" sldId="262"/>
        </pc:sldMkLst>
        <pc:spChg chg="mod">
          <ac:chgData name="Pranav AS" userId="d2e81181b641e97a" providerId="LiveId" clId="{1D513FDE-2E6D-4CC8-B9F9-30E8265FB632}" dt="2026-07-28T08:00:24.625" v="5" actId="1076"/>
          <ac:spMkLst>
            <pc:docMk/>
            <pc:sldMk cId="0" sldId="262"/>
            <ac:spMk id="24" creationId="{00000000-0000-0000-0000-000000000000}"/>
          </ac:spMkLst>
        </pc:spChg>
      </pc:sldChg>
      <pc:sldChg chg="modSp mod">
        <pc:chgData name="Pranav AS" userId="d2e81181b641e97a" providerId="LiveId" clId="{1D513FDE-2E6D-4CC8-B9F9-30E8265FB632}" dt="2026-07-28T08:00:36.342" v="8" actId="1076"/>
        <pc:sldMkLst>
          <pc:docMk/>
          <pc:sldMk cId="0" sldId="263"/>
        </pc:sldMkLst>
        <pc:spChg chg="mod">
          <ac:chgData name="Pranav AS" userId="d2e81181b641e97a" providerId="LiveId" clId="{1D513FDE-2E6D-4CC8-B9F9-30E8265FB632}" dt="2026-07-28T08:00:36.342" v="8" actId="1076"/>
          <ac:spMkLst>
            <pc:docMk/>
            <pc:sldMk cId="0" sldId="263"/>
            <ac:spMk id="24" creationId="{00000000-0000-0000-0000-000000000000}"/>
          </ac:spMkLst>
        </pc:spChg>
      </pc:sldChg>
      <pc:sldChg chg="modSp mod">
        <pc:chgData name="Pranav AS" userId="d2e81181b641e97a" providerId="LiveId" clId="{1D513FDE-2E6D-4CC8-B9F9-30E8265FB632}" dt="2026-07-28T08:01:02.534" v="14" actId="1076"/>
        <pc:sldMkLst>
          <pc:docMk/>
          <pc:sldMk cId="0" sldId="264"/>
        </pc:sldMkLst>
        <pc:spChg chg="mod">
          <ac:chgData name="Pranav AS" userId="d2e81181b641e97a" providerId="LiveId" clId="{1D513FDE-2E6D-4CC8-B9F9-30E8265FB632}" dt="2026-07-28T08:01:02.534" v="14" actId="1076"/>
          <ac:spMkLst>
            <pc:docMk/>
            <pc:sldMk cId="0" sldId="264"/>
            <ac:spMk id="2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1777" cy="5674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671" y="0"/>
            <a:ext cx="8711777" cy="5674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245" y="1413669"/>
            <a:ext cx="6785610" cy="38169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10410" y="5442625"/>
            <a:ext cx="16083280" cy="445305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1920"/>
            <a:ext cx="8711777" cy="5674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671" y="10741920"/>
            <a:ext cx="8711777" cy="5674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533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4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4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4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4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7966" y="267920"/>
            <a:ext cx="19162888" cy="21603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4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7966" y="3969905"/>
            <a:ext cx="18769330" cy="63011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32607" y="283006"/>
            <a:ext cx="1936990" cy="235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499274" y="414003"/>
            <a:ext cx="2420916" cy="2138661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"/>
          <p:cNvSpPr txBox="1"/>
          <p:nvPr/>
        </p:nvSpPr>
        <p:spPr>
          <a:xfrm>
            <a:off x="798550" y="3767399"/>
            <a:ext cx="18507000" cy="378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highlight>
                  <a:srgbClr val="FFFF00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DATA STRUCTURES AND ALGORITHMS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CASE STUDY</a:t>
            </a:r>
            <a:endParaRPr lang="en-US" sz="4000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 CONTACT MANAGEMENT APPLICATION FREQUENTLY INSERTS AND DELETES USER RECORDS DYNAMICALLY. SUGGEST A SUITABLE DATA STRUCTURE AND JUSTIFY YOUR SELECTION</a:t>
            </a:r>
          </a:p>
        </p:txBody>
      </p:sp>
      <p:sp>
        <p:nvSpPr>
          <p:cNvPr id="17" name="Google Shape;17;p1"/>
          <p:cNvSpPr txBox="1"/>
          <p:nvPr/>
        </p:nvSpPr>
        <p:spPr>
          <a:xfrm>
            <a:off x="7052750" y="8301990"/>
            <a:ext cx="6998575" cy="2724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6975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Submitted by:</a:t>
            </a:r>
            <a:endParaRPr sz="36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700" marR="5080" lvl="0" indent="0" algn="l" rtl="0"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Pranav A S (192573001)</a:t>
            </a:r>
            <a:endParaRPr sz="36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700" marR="5080" lvl="0" indent="0" algn="l" rtl="0">
              <a:lnSpc>
                <a:spcPct val="140000"/>
              </a:lnSpc>
              <a:spcBef>
                <a:spcPts val="105"/>
              </a:spcBef>
              <a:spcAft>
                <a:spcPts val="0"/>
              </a:spcAft>
              <a:buNone/>
            </a:pPr>
            <a:endParaRPr sz="36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05E294-C56F-8C4A-A18D-D61C3E080DE9}"/>
              </a:ext>
            </a:extLst>
          </p:cNvPr>
          <p:cNvSpPr txBox="1"/>
          <p:nvPr/>
        </p:nvSpPr>
        <p:spPr>
          <a:xfrm>
            <a:off x="2369597" y="283006"/>
            <a:ext cx="1561360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SAVEETHA INSTITUTE OF  MEDICAL AND TECHNICAL SCIENCES </a:t>
            </a:r>
          </a:p>
          <a:p>
            <a:pPr algn="ctr"/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CHENNAI - 602105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title"/>
          </p:nvPr>
        </p:nvSpPr>
        <p:spPr>
          <a:xfrm>
            <a:off x="2235598" y="629938"/>
            <a:ext cx="10405200" cy="12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/>
              <a:t>Overview</a:t>
            </a:r>
            <a:endParaRPr sz="8250"/>
          </a:p>
        </p:txBody>
      </p:sp>
      <p:sp>
        <p:nvSpPr>
          <p:cNvPr id="20" name="Google Shape;20;p2"/>
          <p:cNvSpPr txBox="1"/>
          <p:nvPr/>
        </p:nvSpPr>
        <p:spPr>
          <a:xfrm>
            <a:off x="2432050" y="2803377"/>
            <a:ext cx="5488200" cy="76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5550" rIns="0" bIns="0" anchor="ctr" anchorCtr="0">
            <a:noAutofit/>
          </a:bodyPr>
          <a:lstStyle/>
          <a:p>
            <a:pPr marL="378460" lvl="0" indent="-36576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059"/>
              <a:buFont typeface="Times New Roman" panose="02020603050405020304"/>
              <a:buChar char="•"/>
            </a:pPr>
            <a:r>
              <a:rPr lang="en-US" sz="33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Abstract</a:t>
            </a:r>
            <a:endParaRPr sz="33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78460" lvl="0" indent="-365760" algn="l" rtl="0">
              <a:lnSpc>
                <a:spcPct val="150000"/>
              </a:lnSpc>
              <a:spcBef>
                <a:spcPts val="1760"/>
              </a:spcBef>
              <a:spcAft>
                <a:spcPts val="0"/>
              </a:spcAft>
              <a:buSzPts val="4059"/>
              <a:buFont typeface="Times New Roman" panose="02020603050405020304"/>
              <a:buChar char="•"/>
            </a:pPr>
            <a:r>
              <a:rPr lang="en-US" sz="33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Problem Statement</a:t>
            </a:r>
            <a:endParaRPr sz="33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78460" lvl="0" indent="-365760" algn="l" rtl="0">
              <a:lnSpc>
                <a:spcPct val="150000"/>
              </a:lnSpc>
              <a:spcBef>
                <a:spcPts val="1755"/>
              </a:spcBef>
              <a:spcAft>
                <a:spcPts val="0"/>
              </a:spcAft>
              <a:buSzPts val="4059"/>
              <a:buFont typeface="Times New Roman" panose="02020603050405020304"/>
              <a:buChar char="•"/>
            </a:pPr>
            <a:r>
              <a:rPr lang="en-US" sz="33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Objective</a:t>
            </a:r>
            <a:endParaRPr sz="33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78460" lvl="0" indent="-365760" algn="l" rtl="0">
              <a:lnSpc>
                <a:spcPct val="150000"/>
              </a:lnSpc>
              <a:spcBef>
                <a:spcPts val="1760"/>
              </a:spcBef>
              <a:spcAft>
                <a:spcPts val="0"/>
              </a:spcAft>
              <a:buSzPts val="4059"/>
              <a:buFont typeface="Times New Roman" panose="02020603050405020304"/>
              <a:buChar char="•"/>
            </a:pPr>
            <a:r>
              <a:rPr lang="en-US" sz="33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</a:t>
            </a:r>
            <a:endParaRPr sz="33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78460" lvl="0" indent="-365760" algn="l" rtl="0">
              <a:lnSpc>
                <a:spcPct val="150000"/>
              </a:lnSpc>
              <a:spcBef>
                <a:spcPts val="1755"/>
              </a:spcBef>
              <a:spcAft>
                <a:spcPts val="0"/>
              </a:spcAft>
              <a:buSzPts val="4059"/>
              <a:buFont typeface="Times New Roman" panose="02020603050405020304"/>
              <a:buChar char="•"/>
            </a:pPr>
            <a:r>
              <a:rPr lang="en-US" sz="33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Proposed Data Structure &amp; Justification</a:t>
            </a:r>
            <a:endParaRPr sz="33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78460" lvl="0" indent="-365760" algn="l" rtl="0">
              <a:lnSpc>
                <a:spcPct val="150000"/>
              </a:lnSpc>
              <a:spcBef>
                <a:spcPts val="1760"/>
              </a:spcBef>
              <a:spcAft>
                <a:spcPts val="0"/>
              </a:spcAft>
              <a:buSzPts val="4059"/>
              <a:buFont typeface="Times New Roman" panose="02020603050405020304"/>
              <a:buChar char="•"/>
            </a:pPr>
            <a:r>
              <a:rPr lang="en-US" sz="33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Comparison of Data Structures</a:t>
            </a:r>
            <a:endParaRPr sz="33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78460" lvl="0" indent="-317500" algn="l" rtl="0">
              <a:lnSpc>
                <a:spcPct val="150000"/>
              </a:lnSpc>
              <a:spcBef>
                <a:spcPts val="1760"/>
              </a:spcBef>
              <a:spcAft>
                <a:spcPts val="0"/>
              </a:spcAft>
              <a:buSzPts val="3300"/>
              <a:buFont typeface="Times New Roman" panose="02020603050405020304"/>
              <a:buChar char="•"/>
            </a:pPr>
            <a:r>
              <a:rPr lang="en-US" sz="33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Operations &amp; Complexity Analysis</a:t>
            </a:r>
            <a:endParaRPr sz="33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78460" lvl="0" indent="-365760" algn="l" rtl="0">
              <a:lnSpc>
                <a:spcPct val="150000"/>
              </a:lnSpc>
              <a:spcBef>
                <a:spcPts val="1755"/>
              </a:spcBef>
              <a:spcAft>
                <a:spcPts val="0"/>
              </a:spcAft>
              <a:buSzPts val="4059"/>
              <a:buFont typeface="Times New Roman" panose="02020603050405020304"/>
              <a:buChar char="•"/>
            </a:pPr>
            <a:r>
              <a:rPr lang="en-US" sz="33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Conclusion</a:t>
            </a:r>
            <a:endParaRPr sz="33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98622" y="92390"/>
            <a:ext cx="1936990" cy="235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214956" y="201558"/>
            <a:ext cx="2420916" cy="2138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7918727" y="701755"/>
            <a:ext cx="5434500" cy="12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dirty="0"/>
              <a:t>Abstract</a:t>
            </a:r>
            <a:endParaRPr sz="8250" dirty="0"/>
          </a:p>
        </p:txBody>
      </p:sp>
      <p:sp>
        <p:nvSpPr>
          <p:cNvPr id="25" name="Google Shape;25;p3"/>
          <p:cNvSpPr txBox="1"/>
          <p:nvPr/>
        </p:nvSpPr>
        <p:spPr>
          <a:xfrm>
            <a:off x="723014" y="2629633"/>
            <a:ext cx="18592042" cy="10122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A contact management application must support frequent insertion and deletion of user records as contacts are added, updated, or removed.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The choice of underlying data structure directly affects the speed, memory usage, and scalability of these operations.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This study compares arrays, linked lists, and hash tables to identify the structure best suited for dynamic contact records.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A hash table combined with a doubly linked list is analyzed, as it offers near-constant time insertion, deletion, and search.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The study concludes that this hybrid structure is the most efficient and practical choice for real-world contact management systems.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1150"/>
              </a:spcBef>
              <a:spcAft>
                <a:spcPts val="0"/>
              </a:spcAft>
              <a:buSzPts val="3300"/>
              <a:buFont typeface="Arial" panose="020B0604020202020204" pitchFamily="34" charset="0"/>
              <a:buChar char="•"/>
            </a:pPr>
            <a:endParaRPr sz="33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1150"/>
              </a:spcBef>
              <a:spcAft>
                <a:spcPts val="0"/>
              </a:spcAft>
              <a:buSzPts val="3300"/>
              <a:buFont typeface="Arial" panose="020B0604020202020204" pitchFamily="34" charset="0"/>
              <a:buChar char="•"/>
            </a:pPr>
            <a:endParaRPr sz="33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SzPts val="3300"/>
              <a:buFont typeface="Times New Roman" panose="02020603050405020304"/>
              <a:buNone/>
            </a:pPr>
            <a:endParaRPr sz="33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22422" y="-60010"/>
            <a:ext cx="1936990" cy="235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443556" y="16138"/>
            <a:ext cx="2420916" cy="2138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4501809" y="477539"/>
            <a:ext cx="12941747" cy="12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dirty="0"/>
              <a:t>Problem Statement</a:t>
            </a:r>
            <a:endParaRPr sz="8250" dirty="0"/>
          </a:p>
        </p:txBody>
      </p:sp>
      <p:sp>
        <p:nvSpPr>
          <p:cNvPr id="25" name="Google Shape;25;p3"/>
          <p:cNvSpPr txBox="1"/>
          <p:nvPr/>
        </p:nvSpPr>
        <p:spPr>
          <a:xfrm>
            <a:off x="723014" y="2629633"/>
            <a:ext cx="18592042" cy="10122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Contact management applications constantly add new contacts and delete outdated or duplicate ones.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Arrays require shifting elements on every insertion or deletion, making them inefficient for large, frequently changing contact lists.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Singly linked lists improve insertion but still need linear traversal to locate a record before deletion.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Searching for a specific contact by name or number becomes slow as the number of records grows.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An appropriate data structure is needed that supports fast insertion, fast deletion, and fast lookup simultaneously.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1150"/>
              </a:spcBef>
              <a:spcAft>
                <a:spcPts val="0"/>
              </a:spcAft>
              <a:buSzPts val="3300"/>
              <a:buFont typeface="Arial" panose="020B0604020202020204" pitchFamily="34" charset="0"/>
              <a:buChar char="•"/>
            </a:pPr>
            <a:endParaRPr sz="33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1150"/>
              </a:spcBef>
              <a:spcAft>
                <a:spcPts val="0"/>
              </a:spcAft>
              <a:buSzPts val="3300"/>
              <a:buFont typeface="Arial" panose="020B0604020202020204" pitchFamily="34" charset="0"/>
              <a:buChar char="•"/>
            </a:pPr>
            <a:endParaRPr sz="33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SzPts val="3300"/>
              <a:buFont typeface="Times New Roman" panose="02020603050405020304"/>
              <a:buNone/>
            </a:pPr>
            <a:endParaRPr sz="33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22422" y="-60010"/>
            <a:ext cx="1936990" cy="235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443556" y="16138"/>
            <a:ext cx="2420916" cy="2138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7918727" y="701755"/>
            <a:ext cx="5434500" cy="12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dirty="0"/>
              <a:t>Objective</a:t>
            </a:r>
            <a:endParaRPr sz="8250" dirty="0"/>
          </a:p>
        </p:txBody>
      </p:sp>
      <p:sp>
        <p:nvSpPr>
          <p:cNvPr id="25" name="Google Shape;25;p3"/>
          <p:cNvSpPr txBox="1"/>
          <p:nvPr/>
        </p:nvSpPr>
        <p:spPr>
          <a:xfrm>
            <a:off x="723014" y="2629633"/>
            <a:ext cx="18592042" cy="10122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To analyze the operational requirements of a contact management application.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To evaluate common data structures - arrays, linked lists, and hash tables - for insertion and deletion efficiency.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To identify a data structure that minimizes time complexity for insert, delete, and search operations.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To justify the selected data structure using time and space complexity analysis.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To demonstrate how the chosen structure scales with a growing number of contacts.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1150"/>
              </a:spcBef>
              <a:spcAft>
                <a:spcPts val="0"/>
              </a:spcAft>
              <a:buSzPts val="3300"/>
              <a:buFont typeface="Arial" panose="020B0604020202020204" pitchFamily="34" charset="0"/>
              <a:buChar char="•"/>
            </a:pPr>
            <a:endParaRPr sz="33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1150"/>
              </a:spcBef>
              <a:spcAft>
                <a:spcPts val="0"/>
              </a:spcAft>
              <a:buSzPts val="3300"/>
              <a:buFont typeface="Arial" panose="020B0604020202020204" pitchFamily="34" charset="0"/>
              <a:buChar char="•"/>
            </a:pPr>
            <a:endParaRPr sz="33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SzPts val="3300"/>
              <a:buFont typeface="Times New Roman" panose="02020603050405020304"/>
              <a:buNone/>
            </a:pPr>
            <a:endParaRPr sz="33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22422" y="-60010"/>
            <a:ext cx="1936990" cy="235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443556" y="16138"/>
            <a:ext cx="2420916" cy="2138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4693696" y="540461"/>
            <a:ext cx="10716707" cy="12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dirty="0"/>
              <a:t>Literature Survey</a:t>
            </a:r>
            <a:endParaRPr sz="8250" dirty="0"/>
          </a:p>
        </p:txBody>
      </p:sp>
      <p:sp>
        <p:nvSpPr>
          <p:cNvPr id="25" name="Google Shape;25;p3"/>
          <p:cNvSpPr txBox="1"/>
          <p:nvPr/>
        </p:nvSpPr>
        <p:spPr>
          <a:xfrm>
            <a:off x="723014" y="2629633"/>
            <a:ext cx="18592042" cy="10122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Array-based contact lists offer fast direct access but need O(n) time for insertion and deletion due to element shifting.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Linked list-based implementations allow O(1) insertion and deletion once the position is known, but need O(n) time to search.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Balanced trees such as AVL or Red-Black trees give O(log n) operations but add rotation overhead for frequent updates.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Hash table-based contact books, as used in many mobile phone address books, achieve near O(1) average-case insert, delete, and search.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Combining a hash table with a doubly linked list is a widely used industry pattern for record management needing fast lookup and easy traversal.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1150"/>
              </a:spcBef>
              <a:spcAft>
                <a:spcPts val="0"/>
              </a:spcAft>
              <a:buSzPts val="3300"/>
              <a:buFont typeface="Arial" panose="020B0604020202020204" pitchFamily="34" charset="0"/>
              <a:buChar char="•"/>
            </a:pPr>
            <a:endParaRPr sz="33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1150"/>
              </a:spcBef>
              <a:spcAft>
                <a:spcPts val="0"/>
              </a:spcAft>
              <a:buSzPts val="3300"/>
              <a:buFont typeface="Arial" panose="020B0604020202020204" pitchFamily="34" charset="0"/>
              <a:buChar char="•"/>
            </a:pPr>
            <a:endParaRPr sz="33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SzPts val="3300"/>
              <a:buFont typeface="Times New Roman" panose="02020603050405020304"/>
              <a:buNone/>
            </a:pPr>
            <a:endParaRPr sz="33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22422" y="-60010"/>
            <a:ext cx="1936990" cy="235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443556" y="16138"/>
            <a:ext cx="2420916" cy="2138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3489960" y="540461"/>
            <a:ext cx="12332147" cy="12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dirty="0"/>
              <a:t>Proposed Data Structure</a:t>
            </a:r>
            <a:endParaRPr sz="8250" dirty="0"/>
          </a:p>
        </p:txBody>
      </p:sp>
      <p:sp>
        <p:nvSpPr>
          <p:cNvPr id="25" name="Google Shape;25;p3"/>
          <p:cNvSpPr txBox="1"/>
          <p:nvPr/>
        </p:nvSpPr>
        <p:spPr>
          <a:xfrm>
            <a:off x="723014" y="2629633"/>
            <a:ext cx="18592042" cy="10122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A Hash Table combined with a Doubly Linked List is proposed for the contact management application.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The hash table maps each contact's key (name or phone number) to its record, giving average O(1) insertion, deletion, and search.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The doubly linked list threads through all records, allowing O(1) deletion of a node once located, and easy traversal or ordering.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Collisions are handled using chaining, so contacts hashing to the same bucket are stored in a small linked list without performance loss.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This hybrid structure is chosen because it satisfies the application's need for frequent, low-latency insertions and deletions.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1150"/>
              </a:spcBef>
              <a:spcAft>
                <a:spcPts val="0"/>
              </a:spcAft>
              <a:buSzPts val="3300"/>
              <a:buFont typeface="Arial" panose="020B0604020202020204" pitchFamily="34" charset="0"/>
              <a:buChar char="•"/>
            </a:pPr>
            <a:endParaRPr sz="33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1150"/>
              </a:spcBef>
              <a:spcAft>
                <a:spcPts val="0"/>
              </a:spcAft>
              <a:buSzPts val="3300"/>
              <a:buFont typeface="Arial" panose="020B0604020202020204" pitchFamily="34" charset="0"/>
              <a:buChar char="•"/>
            </a:pPr>
            <a:endParaRPr sz="33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SzPts val="3300"/>
              <a:buFont typeface="Times New Roman" panose="02020603050405020304"/>
              <a:buNone/>
            </a:pPr>
            <a:endParaRPr sz="33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22422" y="-60010"/>
            <a:ext cx="1936990" cy="235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443556" y="16138"/>
            <a:ext cx="2420916" cy="2138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2575560" y="444595"/>
            <a:ext cx="16187867" cy="1281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dirty="0"/>
              <a:t>Comparison of Data Structures</a:t>
            </a:r>
            <a:endParaRPr sz="8250" dirty="0"/>
          </a:p>
        </p:txBody>
      </p:sp>
      <p:sp>
        <p:nvSpPr>
          <p:cNvPr id="25" name="Google Shape;25;p3"/>
          <p:cNvSpPr txBox="1"/>
          <p:nvPr/>
        </p:nvSpPr>
        <p:spPr>
          <a:xfrm>
            <a:off x="723014" y="2629633"/>
            <a:ext cx="18592042" cy="10122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Array: Insertion O(n), Deletion O(n), Search O(n) - contiguous memory, but costly shifting on every update.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Singly Linked List: Insertion O(1) at head, Deletion O(n), Search O(n) - fast to grow, slow to locate.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Doubly Linked List: Insertion O(1), Deletion O(1) once located, Search O(n) - efficient removal, still linear search.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Balanced BST (AVL): Insertion O(log n), Deletion O(log n), Search O(log n) - ordered, but rebalancing overhead.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Hash Table + Doubly Linked List: Insertion O(1) average, Deletion O(1) average, Search O(1) average - the best overall fit.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1150"/>
              </a:spcBef>
              <a:spcAft>
                <a:spcPts val="0"/>
              </a:spcAft>
              <a:buSzPts val="3300"/>
              <a:buFont typeface="Arial" panose="020B0604020202020204" pitchFamily="34" charset="0"/>
              <a:buChar char="•"/>
            </a:pPr>
            <a:endParaRPr sz="33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1150"/>
              </a:spcBef>
              <a:spcAft>
                <a:spcPts val="0"/>
              </a:spcAft>
              <a:buSzPts val="3300"/>
              <a:buFont typeface="Arial" panose="020B0604020202020204" pitchFamily="34" charset="0"/>
              <a:buChar char="•"/>
            </a:pPr>
            <a:endParaRPr sz="33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SzPts val="3300"/>
              <a:buFont typeface="Times New Roman" panose="02020603050405020304"/>
              <a:buNone/>
            </a:pPr>
            <a:endParaRPr sz="33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22422" y="-60010"/>
            <a:ext cx="1936990" cy="235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443556" y="16138"/>
            <a:ext cx="2420916" cy="2138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2995009" y="558407"/>
            <a:ext cx="15031871" cy="1120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/>
              <a:t>Operations &amp; Complexity Analysis</a:t>
            </a:r>
            <a:endParaRPr sz="7200" dirty="0"/>
          </a:p>
        </p:txBody>
      </p:sp>
      <p:sp>
        <p:nvSpPr>
          <p:cNvPr id="25" name="Google Shape;25;p3"/>
          <p:cNvSpPr txBox="1"/>
          <p:nvPr/>
        </p:nvSpPr>
        <p:spPr>
          <a:xfrm>
            <a:off x="723014" y="2629633"/>
            <a:ext cx="18592042" cy="10122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Insertion: A new contact is hashed to a bucket and appended to the linked list in O(1) average time.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Deletion: The contact's node is located via the hash table and unlinked in O(1) time using doubly linked pointers.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Search: A lookup by key returns the record directly from the hash table in O(1) average time.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Space Complexity: O(n) for n contacts, with additional overhead for hash buckets and linked-list pointers.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Worst-case behavior occurs only under poor hash distribution, which is mitigated with a good hash function and dynamic resizing.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1150"/>
              </a:spcBef>
              <a:spcAft>
                <a:spcPts val="0"/>
              </a:spcAft>
              <a:buSzPts val="3300"/>
              <a:buFont typeface="Arial" panose="020B0604020202020204" pitchFamily="34" charset="0"/>
              <a:buChar char="•"/>
            </a:pPr>
            <a:endParaRPr sz="33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1150"/>
              </a:spcBef>
              <a:spcAft>
                <a:spcPts val="0"/>
              </a:spcAft>
              <a:buSzPts val="3300"/>
              <a:buFont typeface="Arial" panose="020B0604020202020204" pitchFamily="34" charset="0"/>
              <a:buChar char="•"/>
            </a:pPr>
            <a:endParaRPr sz="33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SzPts val="3300"/>
              <a:buFont typeface="Times New Roman" panose="02020603050405020304"/>
              <a:buNone/>
            </a:pPr>
            <a:endParaRPr sz="33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22422" y="-60010"/>
            <a:ext cx="1936990" cy="235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443556" y="16138"/>
            <a:ext cx="2420916" cy="2138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7918727" y="701755"/>
            <a:ext cx="5434500" cy="12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dirty="0"/>
              <a:t>Conclusion</a:t>
            </a:r>
            <a:endParaRPr sz="8250" dirty="0"/>
          </a:p>
        </p:txBody>
      </p:sp>
      <p:sp>
        <p:nvSpPr>
          <p:cNvPr id="25" name="Google Shape;25;p3"/>
          <p:cNvSpPr txBox="1"/>
          <p:nvPr/>
        </p:nvSpPr>
        <p:spPr>
          <a:xfrm>
            <a:off x="723014" y="2629633"/>
            <a:ext cx="18592042" cy="10122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Arrays and simple linked lists are inadequate for a contact management application with frequent insertions and deletions.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A hash table combined with a doubly linked list provides average O(1) time for insertion, deletion, and search.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This hybrid structure balances fast access with efficient dynamic updates, matching the real-time needs of contact management.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The design is scalable, memory-efficient, and widely adopted in real-world address book and CRM systems.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/>
              <a:t>Hence, the Hash Table with Doubly Linked List is recommended as the most suitable data structure for this application.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1150"/>
              </a:spcBef>
              <a:spcAft>
                <a:spcPts val="0"/>
              </a:spcAft>
              <a:buSzPts val="3300"/>
              <a:buFont typeface="Arial" panose="020B0604020202020204" pitchFamily="34" charset="0"/>
              <a:buChar char="•"/>
            </a:pPr>
            <a:endParaRPr sz="33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1150"/>
              </a:spcBef>
              <a:spcAft>
                <a:spcPts val="0"/>
              </a:spcAft>
              <a:buSzPts val="3300"/>
              <a:buFont typeface="Arial" panose="020B0604020202020204" pitchFamily="34" charset="0"/>
              <a:buChar char="•"/>
            </a:pPr>
            <a:endParaRPr sz="33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SzPts val="3300"/>
              <a:buFont typeface="Times New Roman" panose="02020603050405020304"/>
              <a:buNone/>
            </a:pPr>
            <a:endParaRPr sz="33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22422" y="-60010"/>
            <a:ext cx="1936990" cy="235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443556" y="16138"/>
            <a:ext cx="2420916" cy="2138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967</Words>
  <Application>Microsoft Office PowerPoint</Application>
  <PresentationFormat>Custom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Overview</vt:lpstr>
      <vt:lpstr>Abstract</vt:lpstr>
      <vt:lpstr>Problem Statement</vt:lpstr>
      <vt:lpstr>Objective</vt:lpstr>
      <vt:lpstr>Literature Survey</vt:lpstr>
      <vt:lpstr>Proposed Data Structure</vt:lpstr>
      <vt:lpstr>Comparison of Data Structures</vt:lpstr>
      <vt:lpstr>Operations &amp; Complexity Analysis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Saveetha Institute Of  Medical And Technical Sciences Chennai - 602105</dc:title>
  <dc:creator>gopi ukenthar</dc:creator>
  <cp:lastModifiedBy>Pranav AS</cp:lastModifiedBy>
  <cp:revision>2</cp:revision>
  <dcterms:modified xsi:type="dcterms:W3CDTF">2026-07-28T08:01:21Z</dcterms:modified>
</cp:coreProperties>
</file>